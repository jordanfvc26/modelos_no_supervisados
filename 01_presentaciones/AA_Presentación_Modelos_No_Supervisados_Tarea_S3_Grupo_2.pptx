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5143500" cy="9144000"/>
  <p:embeddedFontLst>
    <p:embeddedFont>
      <p:font typeface="Overpass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verpass-bold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schemas.openxmlformats.org/officeDocument/2006/relationships/font" Target="fonts/Overpas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" name="Google Shape;1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" name="Google Shape;3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" name="Google Shape;4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" name="Google Shape;4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 (g3e220547be6_158_0)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 1">
  <p:cSld name="Slide 2 master (g3e220547be6_151_0)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 1">
  <p:cSld name="Slide 4 master (g3e220547be6_136_0)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 1">
  <p:cSld name="Slide 6 master (g3e220547be6_112_0)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high-tech, abstract digital network background with glowing nodes and connecting lines, representing data clusters and neural networks, in dark grey and neon pink tones." id="64" name="Google Shape;6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3"/>
          <p:cNvSpPr/>
          <p:nvPr/>
        </p:nvSpPr>
        <p:spPr>
          <a:xfrm>
            <a:off x="4381500" y="0"/>
            <a:ext cx="4762500" cy="5143500"/>
          </a:xfrm>
          <a:prstGeom prst="rect">
            <a:avLst/>
          </a:prstGeom>
          <a:solidFill>
            <a:srgbClr val="7E023C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3"/>
          <p:cNvSpPr/>
          <p:nvPr/>
        </p:nvSpPr>
        <p:spPr>
          <a:xfrm>
            <a:off x="571500" y="1333500"/>
            <a:ext cx="5715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8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Segmentación de Clientes</a:t>
            </a:r>
            <a:endParaRPr b="1" i="0" sz="388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0">
                <a:solidFill>
                  <a:srgbClr val="F20374"/>
                </a:solidFill>
                <a:latin typeface="Overpass"/>
                <a:ea typeface="Overpass"/>
                <a:cs typeface="Overpass"/>
                <a:sym typeface="Overpass"/>
              </a:rPr>
              <a:t>Aprendizaje No Supervisado</a:t>
            </a:r>
            <a:endParaRPr b="1" i="0" sz="2220">
              <a:solidFill>
                <a:srgbClr val="F20374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67" name="Google Shape;67;p23"/>
          <p:cNvSpPr/>
          <p:nvPr/>
        </p:nvSpPr>
        <p:spPr>
          <a:xfrm>
            <a:off x="571500" y="2952750"/>
            <a:ext cx="4762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Estrategias basadas en datos para plataformas digitales</a:t>
            </a:r>
            <a:endParaRPr b="0" i="0" sz="1400">
              <a:solidFill>
                <a:srgbClr val="E5E0D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grpSp>
        <p:nvGrpSpPr>
          <p:cNvPr id="68" name="Google Shape;68;p23"/>
          <p:cNvGrpSpPr/>
          <p:nvPr/>
        </p:nvGrpSpPr>
        <p:grpSpPr>
          <a:xfrm>
            <a:off x="571500" y="3524250"/>
            <a:ext cx="4191000" cy="285900"/>
            <a:chOff x="571500" y="3524250"/>
            <a:chExt cx="4191000" cy="285900"/>
          </a:xfrm>
        </p:grpSpPr>
        <p:sp>
          <p:nvSpPr>
            <p:cNvPr id="69" name="Google Shape;69;p23"/>
            <p:cNvSpPr/>
            <p:nvPr/>
          </p:nvSpPr>
          <p:spPr>
            <a:xfrm>
              <a:off x="571500" y="3524250"/>
              <a:ext cx="1143000" cy="2859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F203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3"/>
            <p:cNvSpPr txBox="1"/>
            <p:nvPr/>
          </p:nvSpPr>
          <p:spPr>
            <a:xfrm>
              <a:off x="571500" y="352425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20374"/>
                  </a:solidFill>
                  <a:latin typeface="Overpass"/>
                  <a:ea typeface="Overpass"/>
                  <a:cs typeface="Overpass"/>
                  <a:sym typeface="Overpass"/>
                </a:rPr>
                <a:t>LABORATORIO 2</a:t>
              </a:r>
              <a:endParaRPr b="1" sz="900">
                <a:solidFill>
                  <a:srgbClr val="F20374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71" name="Google Shape;71;p23"/>
            <p:cNvSpPr/>
            <p:nvPr/>
          </p:nvSpPr>
          <p:spPr>
            <a:xfrm>
              <a:off x="1809750" y="3524250"/>
              <a:ext cx="1905000" cy="2859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F203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3"/>
            <p:cNvSpPr txBox="1"/>
            <p:nvPr/>
          </p:nvSpPr>
          <p:spPr>
            <a:xfrm>
              <a:off x="1809750" y="35242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20374"/>
                  </a:solidFill>
                  <a:latin typeface="Overpass"/>
                  <a:ea typeface="Overpass"/>
                  <a:cs typeface="Overpass"/>
                  <a:sym typeface="Overpass"/>
                </a:rPr>
                <a:t>APRENDIZAJE AUTOMÁTICO</a:t>
              </a:r>
              <a:endParaRPr b="1" sz="900">
                <a:solidFill>
                  <a:srgbClr val="F20374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73" name="Google Shape;73;p23"/>
            <p:cNvSpPr/>
            <p:nvPr/>
          </p:nvSpPr>
          <p:spPr>
            <a:xfrm>
              <a:off x="3810000" y="3524250"/>
              <a:ext cx="952500" cy="285900"/>
            </a:xfrm>
            <a:prstGeom prst="roundRect">
              <a:avLst>
                <a:gd fmla="val 50000" name="adj"/>
              </a:avLst>
            </a:prstGeom>
            <a:solidFill>
              <a:srgbClr val="F203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3"/>
            <p:cNvSpPr txBox="1"/>
            <p:nvPr/>
          </p:nvSpPr>
          <p:spPr>
            <a:xfrm>
              <a:off x="3810000" y="352425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GRUPO 2</a:t>
              </a:r>
              <a:endParaRPr b="1" sz="9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 txBox="1"/>
          <p:nvPr/>
        </p:nvSpPr>
        <p:spPr>
          <a:xfrm>
            <a:off x="476250" y="38100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¿Por qué necesitamos segmentar?</a:t>
            </a:r>
            <a:endParaRPr b="1" sz="3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81" name="Google Shape;81;p24"/>
          <p:cNvPicPr preferRelativeResize="0"/>
          <p:nvPr/>
        </p:nvPicPr>
        <p:blipFill rotWithShape="1">
          <a:blip r:embed="rId4">
            <a:alphaModFix/>
          </a:blip>
          <a:srcRect b="5556" l="0" r="0" t="5556"/>
          <a:stretch/>
        </p:blipFill>
        <p:spPr>
          <a:xfrm>
            <a:off x="476250" y="1047750"/>
            <a:ext cx="2857500" cy="3810000"/>
          </a:xfrm>
          <a:prstGeom prst="roundRect">
            <a:avLst>
              <a:gd fmla="val 6666" name="adj"/>
            </a:avLst>
          </a:prstGeom>
          <a:noFill/>
          <a:ln>
            <a:noFill/>
          </a:ln>
        </p:spPr>
      </p:pic>
      <p:sp>
        <p:nvSpPr>
          <p:cNvPr id="82" name="Google Shape;82;p24"/>
          <p:cNvSpPr txBox="1"/>
          <p:nvPr/>
        </p:nvSpPr>
        <p:spPr>
          <a:xfrm>
            <a:off x="3619500" y="1047750"/>
            <a:ext cx="26670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Una plataforma de servicios digitales enfrenta un desafío fundamental: sus usuarios presentan </a:t>
            </a:r>
            <a:r>
              <a:rPr b="1" lang="en-US" sz="1100">
                <a:solidFill>
                  <a:srgbClr val="F20374"/>
                </a:solidFill>
                <a:latin typeface="Overpass"/>
                <a:ea typeface="Overpass"/>
                <a:cs typeface="Overpass"/>
                <a:sym typeface="Overpass"/>
              </a:rPr>
              <a:t>comportamientos radicalmente distintos</a:t>
            </a:r>
            <a:r>
              <a:rPr lang="en-US" sz="11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en términos de edad, capacidad de gasto e ingreso.</a:t>
            </a:r>
            <a:endParaRPr sz="1100">
              <a:solidFill>
                <a:srgbClr val="E5E0D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Aplicar la misma estrategia de marketing a todos genera baja conversión, desperdicio de recursos y experiencias irrelevantes.</a:t>
            </a:r>
            <a:endParaRPr sz="1100">
              <a:solidFill>
                <a:srgbClr val="E5E0D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La solución:</a:t>
            </a:r>
            <a:r>
              <a:rPr lang="en-US" sz="11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Dejar que los datos hablen mediante </a:t>
            </a:r>
            <a:r>
              <a:rPr b="1" lang="en-US" sz="1100">
                <a:solidFill>
                  <a:srgbClr val="F20374"/>
                </a:solidFill>
                <a:latin typeface="Overpass"/>
                <a:ea typeface="Overpass"/>
                <a:cs typeface="Overpass"/>
                <a:sym typeface="Overpass"/>
              </a:rPr>
              <a:t>Aprendizaje No Supervisado</a:t>
            </a:r>
            <a:r>
              <a:rPr lang="en-US" sz="11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para descubrir patrones naturales de consumo.</a:t>
            </a:r>
            <a:endParaRPr sz="1100">
              <a:solidFill>
                <a:srgbClr val="E5E0D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grpSp>
        <p:nvGrpSpPr>
          <p:cNvPr id="83" name="Google Shape;83;p24"/>
          <p:cNvGrpSpPr/>
          <p:nvPr/>
        </p:nvGrpSpPr>
        <p:grpSpPr>
          <a:xfrm>
            <a:off x="6477000" y="1047750"/>
            <a:ext cx="2381400" cy="3238500"/>
            <a:chOff x="6477000" y="1047750"/>
            <a:chExt cx="2381400" cy="3238500"/>
          </a:xfrm>
        </p:grpSpPr>
        <p:sp>
          <p:nvSpPr>
            <p:cNvPr id="84" name="Google Shape;84;p24"/>
            <p:cNvSpPr/>
            <p:nvPr/>
          </p:nvSpPr>
          <p:spPr>
            <a:xfrm>
              <a:off x="6477000" y="1047750"/>
              <a:ext cx="2381400" cy="3238500"/>
            </a:xfrm>
            <a:prstGeom prst="roundRect">
              <a:avLst>
                <a:gd fmla="val 6000" name="adj"/>
              </a:avLst>
            </a:prstGeom>
            <a:solidFill>
              <a:srgbClr val="7E0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4"/>
            <p:cNvSpPr txBox="1"/>
            <p:nvPr/>
          </p:nvSpPr>
          <p:spPr>
            <a:xfrm>
              <a:off x="6667500" y="1238250"/>
              <a:ext cx="20001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85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Variables Clave del Análisis</a:t>
              </a:r>
              <a:endParaRPr b="1" sz="108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186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🎂</a:t>
              </a:r>
              <a:endParaRPr sz="108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853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Edad</a:t>
              </a:r>
              <a:endParaRPr b="1" sz="853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del cliente</a:t>
              </a:r>
              <a:endParaRPr sz="698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6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💰</a:t>
              </a:r>
              <a:endParaRPr sz="108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853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Ingresos Anuales</a:t>
              </a:r>
              <a:endParaRPr b="1" sz="853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Capacidad de gasto</a:t>
              </a:r>
              <a:endParaRPr sz="698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6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🛒</a:t>
              </a:r>
              <a:endParaRPr sz="108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3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Puntuación de Gasto</a:t>
              </a:r>
              <a:endParaRPr b="1" sz="853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Escala 1–100</a:t>
              </a:r>
              <a:endParaRPr sz="698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/>
          <p:nvPr/>
        </p:nvSpPr>
        <p:spPr>
          <a:xfrm>
            <a:off x="476250" y="381000"/>
            <a:ext cx="7620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2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Metodología: Del Dato Crudo a la Inteligencia de Negocio</a:t>
            </a:r>
            <a:endParaRPr b="1" sz="222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92" name="Google Shape;92;p25"/>
          <p:cNvPicPr preferRelativeResize="0"/>
          <p:nvPr/>
        </p:nvPicPr>
        <p:blipFill rotWithShape="1">
          <a:blip r:embed="rId3">
            <a:alphaModFix/>
          </a:blip>
          <a:srcRect b="3262" l="0" r="0" t="3262"/>
          <a:stretch/>
        </p:blipFill>
        <p:spPr>
          <a:xfrm>
            <a:off x="5334000" y="1047750"/>
            <a:ext cx="3333900" cy="3238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25"/>
          <p:cNvGrpSpPr/>
          <p:nvPr/>
        </p:nvGrpSpPr>
        <p:grpSpPr>
          <a:xfrm>
            <a:off x="476250" y="1047750"/>
            <a:ext cx="4572000" cy="3178227"/>
            <a:chOff x="476250" y="1047750"/>
            <a:chExt cx="4572000" cy="3178227"/>
          </a:xfrm>
        </p:grpSpPr>
        <p:sp>
          <p:nvSpPr>
            <p:cNvPr id="94" name="Google Shape;94;p25"/>
            <p:cNvSpPr/>
            <p:nvPr/>
          </p:nvSpPr>
          <p:spPr>
            <a:xfrm>
              <a:off x="476250" y="1047750"/>
              <a:ext cx="4572000" cy="714300"/>
            </a:xfrm>
            <a:prstGeom prst="roundRect">
              <a:avLst>
                <a:gd fmla="val 10666" name="adj"/>
              </a:avLst>
            </a:prstGeom>
            <a:solidFill>
              <a:srgbClr val="7E0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5"/>
            <p:cNvSpPr txBox="1"/>
            <p:nvPr/>
          </p:nvSpPr>
          <p:spPr>
            <a:xfrm>
              <a:off x="619125" y="1082802"/>
              <a:ext cx="381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F2037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database</a:t>
              </a:r>
              <a:endParaRPr sz="600">
                <a:solidFill>
                  <a:srgbClr val="F2037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6" name="Google Shape;96;p25"/>
            <p:cNvSpPr txBox="1"/>
            <p:nvPr/>
          </p:nvSpPr>
          <p:spPr>
            <a:xfrm>
              <a:off x="1047750" y="1047750"/>
              <a:ext cx="3905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Datos</a:t>
              </a:r>
              <a:endParaRPr b="1" sz="1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200 clientes; Edad, Ingreso, Gasto</a:t>
              </a:r>
              <a:endParaRPr sz="11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97" name="Google Shape;97;p25"/>
            <p:cNvSpPr/>
            <p:nvPr/>
          </p:nvSpPr>
          <p:spPr>
            <a:xfrm>
              <a:off x="476250" y="1857375"/>
              <a:ext cx="4572000" cy="714300"/>
            </a:xfrm>
            <a:prstGeom prst="roundRect">
              <a:avLst>
                <a:gd fmla="val 10666" name="adj"/>
              </a:avLst>
            </a:prstGeom>
            <a:solidFill>
              <a:srgbClr val="7E0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5"/>
            <p:cNvSpPr txBox="1"/>
            <p:nvPr/>
          </p:nvSpPr>
          <p:spPr>
            <a:xfrm>
              <a:off x="619125" y="1892427"/>
              <a:ext cx="381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2037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filter_alt</a:t>
              </a:r>
              <a:endParaRPr sz="2400">
                <a:solidFill>
                  <a:srgbClr val="F2037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9" name="Google Shape;99;p25"/>
            <p:cNvSpPr txBox="1"/>
            <p:nvPr/>
          </p:nvSpPr>
          <p:spPr>
            <a:xfrm>
              <a:off x="1047750" y="1857375"/>
              <a:ext cx="3905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Preprocesamiento</a:t>
              </a:r>
              <a:endParaRPr b="1" sz="1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Excluir IDs y aplicar escalado</a:t>
              </a:r>
              <a:endParaRPr sz="11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00" name="Google Shape;100;p25"/>
            <p:cNvSpPr/>
            <p:nvPr/>
          </p:nvSpPr>
          <p:spPr>
            <a:xfrm>
              <a:off x="476250" y="2667000"/>
              <a:ext cx="4572000" cy="714300"/>
            </a:xfrm>
            <a:prstGeom prst="roundRect">
              <a:avLst>
                <a:gd fmla="val 10666" name="adj"/>
              </a:avLst>
            </a:prstGeom>
            <a:solidFill>
              <a:srgbClr val="7E0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5"/>
            <p:cNvSpPr txBox="1"/>
            <p:nvPr/>
          </p:nvSpPr>
          <p:spPr>
            <a:xfrm>
              <a:off x="619125" y="2702052"/>
              <a:ext cx="381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2037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endParaRPr sz="2400">
                <a:solidFill>
                  <a:srgbClr val="F2037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2" name="Google Shape;102;p25"/>
            <p:cNvSpPr txBox="1"/>
            <p:nvPr/>
          </p:nvSpPr>
          <p:spPr>
            <a:xfrm>
              <a:off x="1047750" y="2667000"/>
              <a:ext cx="3905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Modelado</a:t>
              </a:r>
              <a:endParaRPr b="1" sz="1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Clustering y reducción dimensional</a:t>
              </a:r>
              <a:endParaRPr sz="11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03" name="Google Shape;103;p25"/>
            <p:cNvSpPr/>
            <p:nvPr/>
          </p:nvSpPr>
          <p:spPr>
            <a:xfrm>
              <a:off x="476250" y="3476625"/>
              <a:ext cx="4572000" cy="714300"/>
            </a:xfrm>
            <a:prstGeom prst="roundRect">
              <a:avLst>
                <a:gd fmla="val 10666" name="adj"/>
              </a:avLst>
            </a:prstGeom>
            <a:solidFill>
              <a:srgbClr val="7E0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5"/>
            <p:cNvSpPr txBox="1"/>
            <p:nvPr/>
          </p:nvSpPr>
          <p:spPr>
            <a:xfrm>
              <a:off x="619125" y="3511677"/>
              <a:ext cx="381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2037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2400">
                <a:solidFill>
                  <a:srgbClr val="F2037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5" name="Google Shape;105;p25"/>
            <p:cNvSpPr txBox="1"/>
            <p:nvPr/>
          </p:nvSpPr>
          <p:spPr>
            <a:xfrm>
              <a:off x="1047750" y="3476625"/>
              <a:ext cx="3905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Validación</a:t>
              </a:r>
              <a:endParaRPr b="1" sz="1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Silueta y gráficos de distancia</a:t>
              </a:r>
              <a:endParaRPr sz="11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</p:grpSp>
      <p:sp>
        <p:nvSpPr>
          <p:cNvPr id="106" name="Google Shape;106;p25"/>
          <p:cNvSpPr txBox="1"/>
          <p:nvPr/>
        </p:nvSpPr>
        <p:spPr>
          <a:xfrm>
            <a:off x="476250" y="438150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El proceso parte de un dataset de </a:t>
            </a:r>
            <a:r>
              <a:rPr b="1" lang="en-US" sz="1000">
                <a:solidFill>
                  <a:srgbClr val="F20374"/>
                </a:solidFill>
                <a:latin typeface="Overpass"/>
                <a:ea typeface="Overpass"/>
                <a:cs typeface="Overpass"/>
                <a:sym typeface="Overpass"/>
              </a:rPr>
              <a:t>200 clientes</a:t>
            </a:r>
            <a:r>
              <a:rPr b="0" lang="en-US" sz="10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con tres variables cuantitativas. El preprocesamiento garantiza que ninguna variable domine por escala. El modelado aplica múltiples algoritmos en paralelo y la validación confirma la calidad estadística de los grupos encontrados.</a:t>
            </a:r>
            <a:endParaRPr b="0" sz="1000">
              <a:solidFill>
                <a:srgbClr val="E5E0D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/>
          <p:nvPr/>
        </p:nvSpPr>
        <p:spPr>
          <a:xfrm>
            <a:off x="476250" y="38100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Nuestro Arsenal Analítico</a:t>
            </a:r>
            <a:endParaRPr b="1" sz="3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476250" y="952500"/>
            <a:ext cx="571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Cuatro familias de técnicas complementarias para una visión integral del comportamiento del cliente.</a:t>
            </a:r>
            <a:endParaRPr b="0" sz="1100">
              <a:solidFill>
                <a:srgbClr val="E5E0D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grpSp>
        <p:nvGrpSpPr>
          <p:cNvPr id="114" name="Google Shape;114;p26"/>
          <p:cNvGrpSpPr/>
          <p:nvPr/>
        </p:nvGrpSpPr>
        <p:grpSpPr>
          <a:xfrm>
            <a:off x="285750" y="1476375"/>
            <a:ext cx="4191000" cy="1047900"/>
            <a:chOff x="285750" y="1476375"/>
            <a:chExt cx="4191000" cy="1047900"/>
          </a:xfrm>
        </p:grpSpPr>
        <p:sp>
          <p:nvSpPr>
            <p:cNvPr id="115" name="Google Shape;115;p26"/>
            <p:cNvSpPr/>
            <p:nvPr/>
          </p:nvSpPr>
          <p:spPr>
            <a:xfrm>
              <a:off x="285750" y="1476375"/>
              <a:ext cx="4191000" cy="1047900"/>
            </a:xfrm>
            <a:prstGeom prst="roundRect">
              <a:avLst>
                <a:gd fmla="val 10909" name="adj"/>
              </a:avLst>
            </a:prstGeom>
            <a:solidFill>
              <a:srgbClr val="7E0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6"/>
            <p:cNvSpPr/>
            <p:nvPr/>
          </p:nvSpPr>
          <p:spPr>
            <a:xfrm>
              <a:off x="476250" y="1638300"/>
              <a:ext cx="342900" cy="342900"/>
            </a:xfrm>
            <a:prstGeom prst="roundRect">
              <a:avLst>
                <a:gd fmla="val 50000" name="adj"/>
              </a:avLst>
            </a:prstGeom>
            <a:solidFill>
              <a:srgbClr val="F203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6"/>
            <p:cNvSpPr txBox="1"/>
            <p:nvPr/>
          </p:nvSpPr>
          <p:spPr>
            <a:xfrm>
              <a:off x="476250" y="1664589"/>
              <a:ext cx="3429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8" name="Google Shape;118;p26"/>
            <p:cNvSpPr txBox="1"/>
            <p:nvPr/>
          </p:nvSpPr>
          <p:spPr>
            <a:xfrm>
              <a:off x="952500" y="1619250"/>
              <a:ext cx="31434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K-Means</a:t>
              </a:r>
              <a:endParaRPr b="1" sz="13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Partición en grupos definidos. Usa el </a:t>
              </a:r>
              <a:r>
                <a:rPr b="1" lang="en-US" sz="1000">
                  <a:solidFill>
                    <a:srgbClr val="F20374"/>
                  </a:solidFill>
                  <a:latin typeface="Overpass"/>
                  <a:ea typeface="Overpass"/>
                  <a:cs typeface="Overpass"/>
                  <a:sym typeface="Overpass"/>
                </a:rPr>
                <a:t>Método del Codo</a:t>
              </a:r>
              <a:r>
                <a:rPr b="0" lang="en-US" sz="10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 para determinar el número óptimo de clusters K.</a:t>
              </a:r>
              <a:endParaRPr b="0" sz="10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</p:grpSp>
      <p:grpSp>
        <p:nvGrpSpPr>
          <p:cNvPr id="119" name="Google Shape;119;p26"/>
          <p:cNvGrpSpPr/>
          <p:nvPr/>
        </p:nvGrpSpPr>
        <p:grpSpPr>
          <a:xfrm>
            <a:off x="4667250" y="1476375"/>
            <a:ext cx="4191000" cy="1047900"/>
            <a:chOff x="4667250" y="1476375"/>
            <a:chExt cx="4191000" cy="1047900"/>
          </a:xfrm>
        </p:grpSpPr>
        <p:sp>
          <p:nvSpPr>
            <p:cNvPr id="120" name="Google Shape;120;p26"/>
            <p:cNvSpPr/>
            <p:nvPr/>
          </p:nvSpPr>
          <p:spPr>
            <a:xfrm>
              <a:off x="4667250" y="1476375"/>
              <a:ext cx="4191000" cy="1047900"/>
            </a:xfrm>
            <a:prstGeom prst="roundRect">
              <a:avLst>
                <a:gd fmla="val 10909" name="adj"/>
              </a:avLst>
            </a:prstGeom>
            <a:solidFill>
              <a:srgbClr val="2D2D2D"/>
            </a:solidFill>
            <a:ln cap="flat" cmpd="sng" w="9525">
              <a:solidFill>
                <a:srgbClr val="7E0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6"/>
            <p:cNvSpPr/>
            <p:nvPr/>
          </p:nvSpPr>
          <p:spPr>
            <a:xfrm>
              <a:off x="4857750" y="1638300"/>
              <a:ext cx="342900" cy="342900"/>
            </a:xfrm>
            <a:prstGeom prst="roundRect">
              <a:avLst>
                <a:gd fmla="val 50000" name="adj"/>
              </a:avLst>
            </a:prstGeom>
            <a:solidFill>
              <a:srgbClr val="F203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6"/>
            <p:cNvSpPr txBox="1"/>
            <p:nvPr/>
          </p:nvSpPr>
          <p:spPr>
            <a:xfrm>
              <a:off x="4857750" y="1664589"/>
              <a:ext cx="3429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grain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3" name="Google Shape;123;p26"/>
            <p:cNvSpPr txBox="1"/>
            <p:nvPr/>
          </p:nvSpPr>
          <p:spPr>
            <a:xfrm>
              <a:off x="5334000" y="1619250"/>
              <a:ext cx="31434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DBSCAN</a:t>
              </a:r>
              <a:endParaRPr b="1" sz="13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Algoritmo por densidad que identifica clientes atípicos como </a:t>
              </a:r>
              <a:r>
                <a:rPr b="1" lang="en-US" sz="1000">
                  <a:solidFill>
                    <a:srgbClr val="F20374"/>
                  </a:solidFill>
                  <a:latin typeface="Overpass"/>
                  <a:ea typeface="Overpass"/>
                  <a:cs typeface="Overpass"/>
                  <a:sym typeface="Overpass"/>
                </a:rPr>
                <a:t>"ruido"</a:t>
              </a:r>
              <a:r>
                <a:rPr b="0" lang="en-US" sz="10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, sin forzar pertenencia a grupos.</a:t>
              </a:r>
              <a:endParaRPr b="0" sz="10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</p:grpSp>
      <p:grpSp>
        <p:nvGrpSpPr>
          <p:cNvPr id="124" name="Google Shape;124;p26"/>
          <p:cNvGrpSpPr/>
          <p:nvPr/>
        </p:nvGrpSpPr>
        <p:grpSpPr>
          <a:xfrm>
            <a:off x="285750" y="2667000"/>
            <a:ext cx="4191000" cy="1047900"/>
            <a:chOff x="285750" y="2667000"/>
            <a:chExt cx="4191000" cy="1047900"/>
          </a:xfrm>
        </p:grpSpPr>
        <p:sp>
          <p:nvSpPr>
            <p:cNvPr id="125" name="Google Shape;125;p26"/>
            <p:cNvSpPr/>
            <p:nvPr/>
          </p:nvSpPr>
          <p:spPr>
            <a:xfrm>
              <a:off x="285750" y="2667000"/>
              <a:ext cx="4191000" cy="1047900"/>
            </a:xfrm>
            <a:prstGeom prst="roundRect">
              <a:avLst>
                <a:gd fmla="val 10909" name="adj"/>
              </a:avLst>
            </a:prstGeom>
            <a:solidFill>
              <a:srgbClr val="2D2D2D"/>
            </a:solidFill>
            <a:ln cap="flat" cmpd="sng" w="9525">
              <a:solidFill>
                <a:srgbClr val="7E0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6"/>
            <p:cNvSpPr/>
            <p:nvPr/>
          </p:nvSpPr>
          <p:spPr>
            <a:xfrm>
              <a:off x="476250" y="2828925"/>
              <a:ext cx="342900" cy="342900"/>
            </a:xfrm>
            <a:prstGeom prst="roundRect">
              <a:avLst>
                <a:gd fmla="val 50000" name="adj"/>
              </a:avLst>
            </a:prstGeom>
            <a:solidFill>
              <a:srgbClr val="F203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6"/>
            <p:cNvSpPr txBox="1"/>
            <p:nvPr/>
          </p:nvSpPr>
          <p:spPr>
            <a:xfrm>
              <a:off x="476250" y="2855214"/>
              <a:ext cx="3429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8" name="Google Shape;128;p26"/>
            <p:cNvSpPr txBox="1"/>
            <p:nvPr/>
          </p:nvSpPr>
          <p:spPr>
            <a:xfrm>
              <a:off x="952500" y="2809875"/>
              <a:ext cx="31434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PCA &amp; t-SNE</a:t>
              </a:r>
              <a:endParaRPr b="1" sz="13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Reducción dimensional para </a:t>
              </a:r>
              <a:r>
                <a:rPr b="1" lang="en-US" sz="1000">
                  <a:solidFill>
                    <a:srgbClr val="F20374"/>
                  </a:solidFill>
                  <a:latin typeface="Overpass"/>
                  <a:ea typeface="Overpass"/>
                  <a:cs typeface="Overpass"/>
                  <a:sym typeface="Overpass"/>
                </a:rPr>
                <a:t>visualización 2D</a:t>
              </a:r>
              <a:r>
                <a:rPr b="0" lang="en-US" sz="10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 de la separación entre grupos en espacio de alta dimensión.</a:t>
              </a:r>
              <a:endParaRPr b="0" sz="10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</p:grpSp>
      <p:grpSp>
        <p:nvGrpSpPr>
          <p:cNvPr id="129" name="Google Shape;129;p26"/>
          <p:cNvGrpSpPr/>
          <p:nvPr/>
        </p:nvGrpSpPr>
        <p:grpSpPr>
          <a:xfrm>
            <a:off x="4667250" y="2667000"/>
            <a:ext cx="4191000" cy="1047900"/>
            <a:chOff x="4667250" y="2667000"/>
            <a:chExt cx="4191000" cy="1047900"/>
          </a:xfrm>
        </p:grpSpPr>
        <p:sp>
          <p:nvSpPr>
            <p:cNvPr id="130" name="Google Shape;130;p26"/>
            <p:cNvSpPr/>
            <p:nvPr/>
          </p:nvSpPr>
          <p:spPr>
            <a:xfrm>
              <a:off x="4667250" y="2667000"/>
              <a:ext cx="4191000" cy="1047900"/>
            </a:xfrm>
            <a:prstGeom prst="roundRect">
              <a:avLst>
                <a:gd fmla="val 10909" name="adj"/>
              </a:avLst>
            </a:prstGeom>
            <a:solidFill>
              <a:srgbClr val="7E0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6"/>
            <p:cNvSpPr/>
            <p:nvPr/>
          </p:nvSpPr>
          <p:spPr>
            <a:xfrm>
              <a:off x="4857750" y="2828925"/>
              <a:ext cx="342900" cy="342900"/>
            </a:xfrm>
            <a:prstGeom prst="roundRect">
              <a:avLst>
                <a:gd fmla="val 50000" name="adj"/>
              </a:avLst>
            </a:prstGeom>
            <a:solidFill>
              <a:srgbClr val="F203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6"/>
            <p:cNvSpPr txBox="1"/>
            <p:nvPr/>
          </p:nvSpPr>
          <p:spPr>
            <a:xfrm>
              <a:off x="4857750" y="2855214"/>
              <a:ext cx="3429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3" name="Google Shape;133;p26"/>
            <p:cNvSpPr txBox="1"/>
            <p:nvPr/>
          </p:nvSpPr>
          <p:spPr>
            <a:xfrm>
              <a:off x="5334000" y="2809875"/>
              <a:ext cx="31434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Isolation Forest &amp; LOF</a:t>
              </a:r>
              <a:endParaRPr b="1" sz="13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Detección de anomalías</a:t>
              </a:r>
              <a:r>
                <a:rPr b="0" lang="en-US" sz="10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 para identificar comportamientos extremos fuera de los patrones normales.</a:t>
              </a:r>
              <a:endParaRPr b="0" sz="10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</p:grpSp>
      <p:pic>
        <p:nvPicPr>
          <p:cNvPr id="134" name="Google Shape;134;p26"/>
          <p:cNvPicPr preferRelativeResize="0"/>
          <p:nvPr/>
        </p:nvPicPr>
        <p:blipFill rotWithShape="1">
          <a:blip r:embed="rId4">
            <a:alphaModFix/>
          </a:blip>
          <a:srcRect b="0" l="583" r="573" t="0"/>
          <a:stretch/>
        </p:blipFill>
        <p:spPr>
          <a:xfrm>
            <a:off x="2857500" y="3810000"/>
            <a:ext cx="3429000" cy="1238400"/>
          </a:xfrm>
          <a:prstGeom prst="roundRect">
            <a:avLst>
              <a:gd fmla="val 615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27"/>
          <p:cNvGrpSpPr/>
          <p:nvPr/>
        </p:nvGrpSpPr>
        <p:grpSpPr>
          <a:xfrm>
            <a:off x="499091" y="3219450"/>
            <a:ext cx="4000500" cy="1733700"/>
            <a:chOff x="499091" y="3219450"/>
            <a:chExt cx="4000500" cy="1733700"/>
          </a:xfrm>
        </p:grpSpPr>
        <p:sp>
          <p:nvSpPr>
            <p:cNvPr id="141" name="Google Shape;141;p27"/>
            <p:cNvSpPr/>
            <p:nvPr/>
          </p:nvSpPr>
          <p:spPr>
            <a:xfrm>
              <a:off x="499091" y="352425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7E023C"/>
            </a:solidFill>
            <a:ln cap="flat" cmpd="sng" w="9525">
              <a:solidFill>
                <a:srgbClr val="971B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499091" y="3219450"/>
              <a:ext cx="381000" cy="209700"/>
            </a:xfrm>
            <a:prstGeom prst="roundRect">
              <a:avLst>
                <a:gd fmla="val 18181" name="adj"/>
              </a:avLst>
            </a:prstGeom>
            <a:solidFill>
              <a:srgbClr val="4C01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7"/>
            <p:cNvSpPr txBox="1"/>
            <p:nvPr/>
          </p:nvSpPr>
          <p:spPr>
            <a:xfrm>
              <a:off x="499091" y="3219450"/>
              <a:ext cx="1524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762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74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K-MEANS — EL ESTRUCTURADO</a:t>
              </a:r>
              <a:endParaRPr b="0" sz="74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44" name="Google Shape;144;p27"/>
            <p:cNvSpPr txBox="1"/>
            <p:nvPr/>
          </p:nvSpPr>
          <p:spPr>
            <a:xfrm>
              <a:off x="638175" y="3619500"/>
              <a:ext cx="3714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✅ Fortaleza:</a:t>
              </a:r>
              <a:r>
                <a:rPr lang="en-US" sz="10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 Encontró 5 grupos óptimos de clientes con estructura clara y asignación determinista.</a:t>
              </a:r>
              <a:endParaRPr sz="10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⚠️ Punto Débil:</a:t>
              </a:r>
              <a:r>
                <a:rPr lang="en-US" sz="10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 Obliga a los 200 clientes a pertenecer a un grupo, asumiendo clusters esféricos.</a:t>
              </a:r>
              <a:endParaRPr sz="10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📊 Silueta:</a:t>
              </a:r>
              <a:r>
                <a:rPr lang="en-US" sz="10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 0.41</a:t>
              </a:r>
              <a:endParaRPr sz="10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</p:grpSp>
      <p:grpSp>
        <p:nvGrpSpPr>
          <p:cNvPr id="145" name="Google Shape;145;p27"/>
          <p:cNvGrpSpPr/>
          <p:nvPr/>
        </p:nvGrpSpPr>
        <p:grpSpPr>
          <a:xfrm>
            <a:off x="4644390" y="3219450"/>
            <a:ext cx="4000500" cy="1733700"/>
            <a:chOff x="4644390" y="3219450"/>
            <a:chExt cx="4000500" cy="1733700"/>
          </a:xfrm>
        </p:grpSpPr>
        <p:sp>
          <p:nvSpPr>
            <p:cNvPr id="146" name="Google Shape;146;p27"/>
            <p:cNvSpPr/>
            <p:nvPr/>
          </p:nvSpPr>
          <p:spPr>
            <a:xfrm>
              <a:off x="4644390" y="352425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252222">
                <a:alpha val="95000"/>
              </a:srgbClr>
            </a:solidFill>
            <a:ln cap="flat" cmpd="sng" w="9525">
              <a:solidFill>
                <a:srgbClr val="971B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4644390" y="3219450"/>
              <a:ext cx="381000" cy="209700"/>
            </a:xfrm>
            <a:prstGeom prst="roundRect">
              <a:avLst>
                <a:gd fmla="val 18181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203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7"/>
            <p:cNvSpPr txBox="1"/>
            <p:nvPr/>
          </p:nvSpPr>
          <p:spPr>
            <a:xfrm>
              <a:off x="4644390" y="3219450"/>
              <a:ext cx="1524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762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F20374"/>
                  </a:solidFill>
                  <a:latin typeface="Overpass"/>
                  <a:ea typeface="Overpass"/>
                  <a:cs typeface="Overpass"/>
                  <a:sym typeface="Overpass"/>
                </a:rPr>
                <a:t>DBSCAN — EL REALISTA</a:t>
              </a:r>
              <a:endParaRPr b="0" sz="800">
                <a:solidFill>
                  <a:srgbClr val="F20374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49" name="Google Shape;149;p27"/>
            <p:cNvSpPr txBox="1"/>
            <p:nvPr/>
          </p:nvSpPr>
          <p:spPr>
            <a:xfrm>
              <a:off x="4787265" y="3619500"/>
              <a:ext cx="37146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✅ Fortaleza:</a:t>
              </a:r>
              <a:r>
                <a:rPr lang="en-US" sz="10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 Encontró 6 grupos densos con formas arbitrarias y silueta superior.</a:t>
              </a:r>
              <a:endParaRPr sz="10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🔍 Hallazgo Crítico:</a:t>
              </a:r>
              <a:r>
                <a:rPr lang="en-US" sz="10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 Identificó que un ~30% (~60 personas) son "ruido" con comportamientos atípicos.</a:t>
              </a:r>
              <a:endParaRPr sz="10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📊 Silueta:</a:t>
              </a:r>
              <a:r>
                <a:rPr lang="en-US" sz="10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 0.48</a:t>
              </a:r>
              <a:endParaRPr sz="10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</p:grpSp>
      <p:pic>
        <p:nvPicPr>
          <p:cNvPr id="150" name="Google Shape;15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3300" y="850300"/>
            <a:ext cx="6017400" cy="224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7"/>
          <p:cNvSpPr/>
          <p:nvPr/>
        </p:nvSpPr>
        <p:spPr>
          <a:xfrm>
            <a:off x="499091" y="381000"/>
            <a:ext cx="81459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Análisis Comparativo: K-Means vs. DBSCAN</a:t>
            </a:r>
            <a:endParaRPr b="1" sz="24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/>
          <p:nvPr/>
        </p:nvSpPr>
        <p:spPr>
          <a:xfrm>
            <a:off x="476250" y="381000"/>
            <a:ext cx="7620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Los 5 Perfiles de Cliente Descubiertos</a:t>
            </a:r>
            <a:endParaRPr b="1" sz="2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grpSp>
        <p:nvGrpSpPr>
          <p:cNvPr id="158" name="Google Shape;158;p28"/>
          <p:cNvGrpSpPr/>
          <p:nvPr/>
        </p:nvGrpSpPr>
        <p:grpSpPr>
          <a:xfrm>
            <a:off x="476250" y="1047750"/>
            <a:ext cx="8382000" cy="1714500"/>
            <a:chOff x="476250" y="1047750"/>
            <a:chExt cx="8382000" cy="1714500"/>
          </a:xfrm>
        </p:grpSpPr>
        <p:sp>
          <p:nvSpPr>
            <p:cNvPr id="159" name="Google Shape;159;p28"/>
            <p:cNvSpPr/>
            <p:nvPr/>
          </p:nvSpPr>
          <p:spPr>
            <a:xfrm>
              <a:off x="476250" y="1047750"/>
              <a:ext cx="1600200" cy="1714500"/>
            </a:xfrm>
            <a:prstGeom prst="roundRect">
              <a:avLst>
                <a:gd fmla="val 4761" name="adj"/>
              </a:avLst>
            </a:prstGeom>
            <a:solidFill>
              <a:srgbClr val="7E0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8"/>
            <p:cNvSpPr txBox="1"/>
            <p:nvPr/>
          </p:nvSpPr>
          <p:spPr>
            <a:xfrm>
              <a:off x="619125" y="1190625"/>
              <a:ext cx="1314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📈 Ahorradores</a:t>
              </a:r>
              <a:br>
                <a:rPr b="1" lang="en-US" sz="11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</a:br>
              <a:r>
                <a:rPr b="0" lang="en-US" sz="9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Edad ~46</a:t>
              </a:r>
              <a:endParaRPr b="1" sz="11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Bajo ingreso, mínimo gasto. Clientes cautelosos. Campañas de valor y descuento clave.</a:t>
              </a:r>
              <a:endParaRPr b="0" sz="9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61" name="Google Shape;161;p28"/>
            <p:cNvSpPr/>
            <p:nvPr/>
          </p:nvSpPr>
          <p:spPr>
            <a:xfrm>
              <a:off x="2171700" y="1047750"/>
              <a:ext cx="1600200" cy="1714500"/>
            </a:xfrm>
            <a:prstGeom prst="roundRect">
              <a:avLst>
                <a:gd fmla="val 4761" name="adj"/>
              </a:avLst>
            </a:prstGeom>
            <a:solidFill>
              <a:srgbClr val="7E0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8"/>
            <p:cNvSpPr txBox="1"/>
            <p:nvPr/>
          </p:nvSpPr>
          <p:spPr>
            <a:xfrm>
              <a:off x="2314575" y="1190625"/>
              <a:ext cx="1314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🛍️ Jóvenes</a:t>
              </a:r>
              <a:br>
                <a:rPr b="1" lang="en-US" sz="11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</a:br>
              <a:r>
                <a:rPr b="0" lang="en-US" sz="9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Edad ~25</a:t>
              </a:r>
              <a:endParaRPr b="1" sz="11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Bajo ingreso, altísimo gasto. Candidatos ideales para planes de crédito.</a:t>
              </a:r>
              <a:endParaRPr b="0" sz="9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63" name="Google Shape;163;p28"/>
            <p:cNvSpPr/>
            <p:nvPr/>
          </p:nvSpPr>
          <p:spPr>
            <a:xfrm>
              <a:off x="3867150" y="1047750"/>
              <a:ext cx="1600200" cy="1714500"/>
            </a:xfrm>
            <a:prstGeom prst="roundRect">
              <a:avLst>
                <a:gd fmla="val 4761" name="adj"/>
              </a:avLst>
            </a:prstGeom>
            <a:solidFill>
              <a:srgbClr val="7E0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8"/>
            <p:cNvSpPr txBox="1"/>
            <p:nvPr/>
          </p:nvSpPr>
          <p:spPr>
            <a:xfrm>
              <a:off x="4010025" y="1190625"/>
              <a:ext cx="1314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⚖️ El Promedio</a:t>
              </a:r>
              <a:br>
                <a:rPr b="1" lang="en-US" sz="11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</a:br>
              <a:r>
                <a:rPr b="0" lang="en-US" sz="9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Edad ~56</a:t>
              </a:r>
              <a:endParaRPr b="1" sz="11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Ingreso medio, gasto medio. Base estable. Retención por fidelidad.</a:t>
              </a:r>
              <a:endParaRPr b="0" sz="9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65" name="Google Shape;165;p28"/>
            <p:cNvSpPr/>
            <p:nvPr/>
          </p:nvSpPr>
          <p:spPr>
            <a:xfrm>
              <a:off x="5562600" y="1047750"/>
              <a:ext cx="1600200" cy="1714500"/>
            </a:xfrm>
            <a:prstGeom prst="roundRect">
              <a:avLst>
                <a:gd fmla="val 4761" name="adj"/>
              </a:avLst>
            </a:prstGeom>
            <a:solidFill>
              <a:srgbClr val="7E0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8"/>
            <p:cNvSpPr txBox="1"/>
            <p:nvPr/>
          </p:nvSpPr>
          <p:spPr>
            <a:xfrm>
              <a:off x="5705475" y="1190625"/>
              <a:ext cx="1314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💼 Conservadores</a:t>
              </a:r>
              <a:br>
                <a:rPr b="1" lang="en-US" sz="11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</a:br>
              <a:r>
                <a:rPr b="0" lang="en-US" sz="9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Edad ~40</a:t>
              </a:r>
              <a:endParaRPr b="1" sz="11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Alto ingreso, bajo gasto. Gran oportunidad de activación inmediata.</a:t>
              </a:r>
              <a:endParaRPr b="0" sz="9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7258050" y="1047750"/>
              <a:ext cx="1600200" cy="1714500"/>
            </a:xfrm>
            <a:prstGeom prst="roundRect">
              <a:avLst>
                <a:gd fmla="val 4761" name="adj"/>
              </a:avLst>
            </a:prstGeom>
            <a:solidFill>
              <a:srgbClr val="7E0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8"/>
            <p:cNvSpPr txBox="1"/>
            <p:nvPr/>
          </p:nvSpPr>
          <p:spPr>
            <a:xfrm>
              <a:off x="7400925" y="1190625"/>
              <a:ext cx="1314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💎 Premium</a:t>
              </a:r>
              <a:br>
                <a:rPr b="1" lang="en-US" sz="1100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</a:br>
              <a:r>
                <a:rPr b="0" lang="en-US" sz="9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Edad ~33</a:t>
              </a:r>
              <a:endParaRPr b="1" sz="11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E5E0DF"/>
                  </a:solidFill>
                  <a:latin typeface="Overpass"/>
                  <a:ea typeface="Overpass"/>
                  <a:cs typeface="Overpass"/>
                  <a:sym typeface="Overpass"/>
                </a:rPr>
                <a:t>Altísimo ingreso y gasto. Nuestros VIPs. Prioridad máxima en retención.</a:t>
              </a:r>
              <a:endParaRPr b="0" sz="90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</p:grpSp>
      <p:pic>
        <p:nvPicPr>
          <p:cNvPr id="169" name="Google Shape;16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1600" y="2914650"/>
            <a:ext cx="6238875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/>
          <p:nvPr/>
        </p:nvSpPr>
        <p:spPr>
          <a:xfrm>
            <a:off x="548953" y="339923"/>
            <a:ext cx="3721522" cy="318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Overpas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Conclusiones y Próximos Pasos</a:t>
            </a:r>
            <a:endParaRPr b="0" i="0" sz="2000" u="none" cap="none" strike="noStrike"/>
          </a:p>
        </p:txBody>
      </p:sp>
      <p:sp>
        <p:nvSpPr>
          <p:cNvPr id="176" name="Google Shape;176;p29"/>
          <p:cNvSpPr/>
          <p:nvPr/>
        </p:nvSpPr>
        <p:spPr>
          <a:xfrm>
            <a:off x="548953" y="883146"/>
            <a:ext cx="1324049" cy="15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verpas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Impacto en el Negocio</a:t>
            </a:r>
            <a:endParaRPr b="0" i="0" sz="1000" u="none" cap="none" strike="noStrike"/>
          </a:p>
        </p:txBody>
      </p:sp>
      <p:pic>
        <p:nvPicPr>
          <p:cNvPr descr="preencoded.png" id="177" name="Google Shape;17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583" y="1148916"/>
            <a:ext cx="162595" cy="16259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/>
          <p:nvPr/>
        </p:nvSpPr>
        <p:spPr>
          <a:xfrm>
            <a:off x="901154" y="1143521"/>
            <a:ext cx="3538612" cy="317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Overpass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El Aprendizaje No Supervisado es </a:t>
            </a:r>
            <a:r>
              <a:rPr b="1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altamente efectivo</a:t>
            </a: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para perfilar clientes sin etiquetas previas.</a:t>
            </a:r>
            <a:endParaRPr b="0" i="0" sz="850" u="none" cap="none" strike="noStrike"/>
          </a:p>
        </p:txBody>
      </p:sp>
      <p:pic>
        <p:nvPicPr>
          <p:cNvPr descr="preencoded.png" id="179" name="Google Shape;17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583" y="1658950"/>
            <a:ext cx="162595" cy="16259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9"/>
          <p:cNvSpPr/>
          <p:nvPr/>
        </p:nvSpPr>
        <p:spPr>
          <a:xfrm>
            <a:off x="901154" y="1653555"/>
            <a:ext cx="3538612" cy="317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Overpass"/>
              <a:buNone/>
            </a:pPr>
            <a:r>
              <a:rPr b="1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Descubrimiento clave:</a:t>
            </a: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Los Conservadores de Alto Ingreso ganan igual que los VIPs, pero no gastan — una oportunidad de negocio inmediata.</a:t>
            </a:r>
            <a:endParaRPr b="0" i="0" sz="850" u="none" cap="none" strike="noStrike"/>
          </a:p>
        </p:txBody>
      </p:sp>
      <p:pic>
        <p:nvPicPr>
          <p:cNvPr descr="preencoded.png" id="181" name="Google Shape;1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583" y="2168984"/>
            <a:ext cx="162595" cy="16259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9"/>
          <p:cNvSpPr/>
          <p:nvPr/>
        </p:nvSpPr>
        <p:spPr>
          <a:xfrm>
            <a:off x="901154" y="2163589"/>
            <a:ext cx="3538612" cy="317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Overpass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El </a:t>
            </a:r>
            <a:r>
              <a:rPr b="1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30% de clientes atípicos</a:t>
            </a: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detectados por DBSCAN requieren análisis individual fuera de campañas masivas.</a:t>
            </a:r>
            <a:endParaRPr b="0" i="0" sz="850" u="none" cap="none" strike="noStrike"/>
          </a:p>
        </p:txBody>
      </p:sp>
      <p:sp>
        <p:nvSpPr>
          <p:cNvPr id="183" name="Google Shape;183;p29"/>
          <p:cNvSpPr/>
          <p:nvPr/>
        </p:nvSpPr>
        <p:spPr>
          <a:xfrm>
            <a:off x="4708996" y="883146"/>
            <a:ext cx="1275383" cy="15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verpas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Hoja de Ruta Técnica</a:t>
            </a:r>
            <a:endParaRPr b="0" i="0" sz="1000" u="none" cap="none" strike="noStrike"/>
          </a:p>
        </p:txBody>
      </p:sp>
      <p:sp>
        <p:nvSpPr>
          <p:cNvPr id="184" name="Google Shape;184;p29"/>
          <p:cNvSpPr/>
          <p:nvPr/>
        </p:nvSpPr>
        <p:spPr>
          <a:xfrm>
            <a:off x="4708996" y="1143521"/>
            <a:ext cx="216768" cy="1355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Overpass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01</a:t>
            </a:r>
            <a:endParaRPr b="0" i="0" sz="850" u="none" cap="none" strike="noStrike"/>
          </a:p>
        </p:txBody>
      </p:sp>
      <p:sp>
        <p:nvSpPr>
          <p:cNvPr id="185" name="Google Shape;185;p29"/>
          <p:cNvSpPr/>
          <p:nvPr/>
        </p:nvSpPr>
        <p:spPr>
          <a:xfrm>
            <a:off x="4708996" y="1313483"/>
            <a:ext cx="3890814" cy="14288"/>
          </a:xfrm>
          <a:prstGeom prst="rect">
            <a:avLst/>
          </a:prstGeom>
          <a:solidFill>
            <a:srgbClr val="F203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9"/>
          <p:cNvSpPr/>
          <p:nvPr/>
        </p:nvSpPr>
        <p:spPr>
          <a:xfrm>
            <a:off x="4708996" y="1396231"/>
            <a:ext cx="1275383" cy="15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Overpass"/>
              <a:buNone/>
            </a:pPr>
            <a:r>
              <a:rPr b="1" i="0" lang="en-US" sz="10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Acciones Inmediatas</a:t>
            </a:r>
            <a:endParaRPr b="0" i="0" sz="1000" u="none" cap="none" strike="noStrike"/>
          </a:p>
        </p:txBody>
      </p:sp>
      <p:sp>
        <p:nvSpPr>
          <p:cNvPr id="187" name="Google Shape;187;p29"/>
          <p:cNvSpPr/>
          <p:nvPr/>
        </p:nvSpPr>
        <p:spPr>
          <a:xfrm>
            <a:off x="4708996" y="1645369"/>
            <a:ext cx="3890814" cy="317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Overpass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Planes de crédito para </a:t>
            </a:r>
            <a:r>
              <a:rPr b="1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Jóvenes Impulsivos</a:t>
            </a: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e incentivos VIP para </a:t>
            </a:r>
            <a:r>
              <a:rPr b="1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Conservadores de Alto Ingreso</a:t>
            </a: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.</a:t>
            </a:r>
            <a:endParaRPr b="0" i="0" sz="850" u="none" cap="none" strike="noStrike"/>
          </a:p>
        </p:txBody>
      </p:sp>
      <p:sp>
        <p:nvSpPr>
          <p:cNvPr id="188" name="Google Shape;188;p29"/>
          <p:cNvSpPr/>
          <p:nvPr/>
        </p:nvSpPr>
        <p:spPr>
          <a:xfrm>
            <a:off x="4708996" y="2133377"/>
            <a:ext cx="216768" cy="1355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Overpass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02</a:t>
            </a:r>
            <a:endParaRPr b="0" i="0" sz="850" u="none" cap="none" strike="noStrike"/>
          </a:p>
        </p:txBody>
      </p:sp>
      <p:sp>
        <p:nvSpPr>
          <p:cNvPr id="189" name="Google Shape;189;p29"/>
          <p:cNvSpPr/>
          <p:nvPr/>
        </p:nvSpPr>
        <p:spPr>
          <a:xfrm>
            <a:off x="4708996" y="2303338"/>
            <a:ext cx="3890814" cy="14288"/>
          </a:xfrm>
          <a:prstGeom prst="rect">
            <a:avLst/>
          </a:prstGeom>
          <a:solidFill>
            <a:srgbClr val="F203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9"/>
          <p:cNvSpPr/>
          <p:nvPr/>
        </p:nvSpPr>
        <p:spPr>
          <a:xfrm>
            <a:off x="4708996" y="2386087"/>
            <a:ext cx="1275383" cy="15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Overpass"/>
              <a:buNone/>
            </a:pPr>
            <a:r>
              <a:rPr b="1" i="0" lang="en-US" sz="10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Mejoras de Modelo</a:t>
            </a:r>
            <a:endParaRPr b="0" i="0" sz="1000" u="none" cap="none" strike="noStrike"/>
          </a:p>
        </p:txBody>
      </p:sp>
      <p:sp>
        <p:nvSpPr>
          <p:cNvPr id="191" name="Google Shape;191;p29"/>
          <p:cNvSpPr/>
          <p:nvPr/>
        </p:nvSpPr>
        <p:spPr>
          <a:xfrm>
            <a:off x="4708996" y="2635225"/>
            <a:ext cx="3890814" cy="317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Overpass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Migrar a </a:t>
            </a:r>
            <a:r>
              <a:rPr b="1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GMM</a:t>
            </a: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para clusters de forma flexible. Incorporar métricas </a:t>
            </a:r>
            <a:r>
              <a:rPr b="1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RFM</a:t>
            </a: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y datos de navegación.</a:t>
            </a:r>
            <a:endParaRPr b="0" i="0" sz="850" u="none" cap="none" strike="noStrike"/>
          </a:p>
        </p:txBody>
      </p:sp>
      <p:sp>
        <p:nvSpPr>
          <p:cNvPr id="192" name="Google Shape;192;p29"/>
          <p:cNvSpPr/>
          <p:nvPr/>
        </p:nvSpPr>
        <p:spPr>
          <a:xfrm>
            <a:off x="4708996" y="3123233"/>
            <a:ext cx="216768" cy="1355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Overpass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03</a:t>
            </a:r>
            <a:endParaRPr b="0" i="0" sz="850" u="none" cap="none" strike="noStrike"/>
          </a:p>
        </p:txBody>
      </p:sp>
      <p:sp>
        <p:nvSpPr>
          <p:cNvPr id="193" name="Google Shape;193;p29"/>
          <p:cNvSpPr/>
          <p:nvPr/>
        </p:nvSpPr>
        <p:spPr>
          <a:xfrm>
            <a:off x="4708996" y="3293194"/>
            <a:ext cx="3890814" cy="14288"/>
          </a:xfrm>
          <a:prstGeom prst="rect">
            <a:avLst/>
          </a:prstGeom>
          <a:solidFill>
            <a:srgbClr val="F203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9"/>
          <p:cNvSpPr/>
          <p:nvPr/>
        </p:nvSpPr>
        <p:spPr>
          <a:xfrm>
            <a:off x="4708996" y="3375943"/>
            <a:ext cx="1275383" cy="15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Overpass"/>
              <a:buNone/>
            </a:pPr>
            <a:r>
              <a:rPr b="1" i="0" lang="en-US" sz="10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Escalabilidad</a:t>
            </a:r>
            <a:endParaRPr b="0" i="0" sz="1000" u="none" cap="none" strike="noStrike"/>
          </a:p>
        </p:txBody>
      </p:sp>
      <p:sp>
        <p:nvSpPr>
          <p:cNvPr id="195" name="Google Shape;195;p29"/>
          <p:cNvSpPr/>
          <p:nvPr/>
        </p:nvSpPr>
        <p:spPr>
          <a:xfrm>
            <a:off x="4708996" y="3625081"/>
            <a:ext cx="3890814" cy="317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Overpass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Implementar </a:t>
            </a:r>
            <a:r>
              <a:rPr b="1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HDBSCAN</a:t>
            </a: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y </a:t>
            </a:r>
            <a:r>
              <a:rPr b="1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UMAP</a:t>
            </a:r>
            <a:r>
              <a:rPr b="0" i="0" lang="en-US" sz="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para mayor precisión y adaptación a datasets de mayor escala.</a:t>
            </a:r>
            <a:endParaRPr b="0" i="0" sz="850" u="none" cap="none" strike="noStrike"/>
          </a:p>
        </p:txBody>
      </p:sp>
      <p:sp>
        <p:nvSpPr>
          <p:cNvPr id="196" name="Google Shape;196;p29"/>
          <p:cNvSpPr/>
          <p:nvPr/>
        </p:nvSpPr>
        <p:spPr>
          <a:xfrm>
            <a:off x="548953" y="4225305"/>
            <a:ext cx="8046095" cy="578272"/>
          </a:xfrm>
          <a:prstGeom prst="roundRect">
            <a:avLst>
              <a:gd fmla="val 7874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99" y="4370710"/>
            <a:ext cx="135508" cy="10834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9"/>
          <p:cNvSpPr/>
          <p:nvPr/>
        </p:nvSpPr>
        <p:spPr>
          <a:xfrm>
            <a:off x="901154" y="4342135"/>
            <a:ext cx="7585546" cy="326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Overpass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💡</a:t>
            </a:r>
            <a:r>
              <a:rPr b="0" i="0" lang="en-US" sz="85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i="0" lang="en-US" sz="85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Conclusión Final:</a:t>
            </a:r>
            <a:r>
              <a:rPr b="0" i="0" lang="en-US" sz="85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 Los datos revelan que no existe "el cliente promedio". Personalizar la estrategia por segmento puede transformar significativamente la eficiencia del marketing y los ingresos de la plataforma.</a:t>
            </a:r>
            <a:endParaRPr b="0" i="0" sz="850" u="none" cap="none" strike="noStrike"/>
          </a:p>
        </p:txBody>
      </p:sp>
      <p:pic>
        <p:nvPicPr>
          <p:cNvPr id="199" name="Google Shape;19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1150" y="2593814"/>
            <a:ext cx="3424074" cy="151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